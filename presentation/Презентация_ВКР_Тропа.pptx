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БАКАЛАВРСКАЯ РАБОТА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ТУЛГУ · ТУЛА,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5855" cy="12801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47088"/>
            <a:ext cx="5943600" cy="1219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2B2B2B"/>
                </a:solidFill>
                <a:latin typeface="Segoe Script"/>
                <a:cs typeface="Segoe Script"/>
              </a:rPr>
              <a:t>доступный туризм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48840"/>
            <a:ext cx="11475720" cy="32103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41414"/>
                </a:solidFill>
                <a:latin typeface="Arial Black"/>
                <a:cs typeface="Arial Black"/>
              </a:rPr>
              <a:t>Тропа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8412480" cy="1280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B2B2B"/>
                </a:solidFill>
                <a:latin typeface="Arial"/>
                <a:cs typeface="Arial"/>
              </a:rPr>
              <a:t>Веб-сервис построения туристических маршрутов по Тульской области для людей с ограниченными возможностями здоровья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8978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C8984"/>
                </a:solidFill>
                <a:latin typeface="Arial"/>
                <a:cs typeface="Arial"/>
              </a:rPr>
              <a:t>Студент гр. 221321  —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Шулепова Д. А.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8984"/>
                </a:solidFill>
                <a:latin typeface="Arial"/>
                <a:cs typeface="Arial"/>
              </a:rPr>
              <a:t>Руководитель  —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Сафронова М. 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5455" y="5989320"/>
            <a:ext cx="365760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C8984"/>
                </a:solidFill>
                <a:latin typeface="Arial"/>
                <a:cs typeface="Arial"/>
              </a:rPr>
              <a:t>09.03.03 Прикладная информатика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О РАБОТЕ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54056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 i="0">
                <a:solidFill>
                  <a:srgbClr val="141414"/>
                </a:solidFill>
                <a:latin typeface="Arial Black"/>
                <a:cs typeface="Arial Black"/>
              </a:rPr>
              <a:t>О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2B2B2B"/>
                </a:solidFill>
                <a:latin typeface="Segoe Script"/>
                <a:cs typeface="Segoe Script"/>
              </a:rPr>
              <a:t>коротко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ОБЪЕКТ ИССЛЕДОВАНИЯ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41414"/>
                </a:solidFill>
                <a:latin typeface="Arial"/>
                <a:cs typeface="Arial"/>
              </a:rPr>
              <a:t>Процессы информационной поддержки планирования туристических поездок по объектам Тульской области для граждан с ОВЗ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ПРЕДМЕТ ИССЛЕДОВАНИЯ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41414"/>
                </a:solidFill>
                <a:latin typeface="Arial"/>
                <a:cs typeface="Arial"/>
              </a:rPr>
              <a:t>Модели, алгоритмы и программные средства построения инклюзивных маршрутов с учётом доступности среды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ЦЕЛЬ РАБОТЫ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41414"/>
                </a:solidFill>
                <a:latin typeface="Arial"/>
                <a:cs typeface="Arial"/>
              </a:rPr>
              <a:t>Разработка веб-сервиса (ИС «Тропа») построения туристических маршрутов с учётом потребностей пользователя в доступности среды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6888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ЗАДАЧИ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анализ предметной области и обзор систем-аналогов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модель оценки доступности по категориям ОВЗ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архитектура системы и структура базы данных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алгоритм построения инклюзивного маршрута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методика автосбора сведений (обработка текста)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реализация сервера и клиента, тестирование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меры информационной безопасности и защиты ПДн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АКТУАЛЬНОСТЬ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500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141414"/>
                </a:solidFill>
                <a:latin typeface="Arial Black"/>
                <a:cs typeface="Arial Black"/>
              </a:rPr>
              <a:t>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2B2B2B"/>
                </a:solidFill>
                <a:latin typeface="Segoe Script"/>
                <a:cs typeface="Segoe Script"/>
              </a:rPr>
              <a:t>проблема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2F6B53"/>
                </a:solidFill>
                <a:latin typeface="Arial Black"/>
                <a:cs typeface="Arial Black"/>
              </a:rPr>
              <a:t>10 млн+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граждан с инвалидностью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в РФ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2F6B53"/>
                </a:solidFill>
                <a:latin typeface="Arial Black"/>
                <a:cs typeface="Arial Black"/>
              </a:rPr>
              <a:t>~30 %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населения нужна адаптированная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туристическая информация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51460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2F6B53"/>
                </a:solidFill>
                <a:latin typeface="Arial Black"/>
                <a:cs typeface="Arial Black"/>
              </a:rPr>
              <a:t>500 тыс.+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туристов в Тульской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области ежегодно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4340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ПРОБЛЕМА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сведения о доступности объектов фрагментарны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сервисы (Tripadvisor, Яндекс Карты, 2GIS) не учитывают потребности людей с ОВЗ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планирование поездки трудоёмко и часто срывается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343400"/>
            <a:ext cx="5212080" cy="2194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РЕШЕНИЕ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1414"/>
                </a:solidFill>
                <a:latin typeface="Arial"/>
                <a:cs typeface="Arial"/>
              </a:rPr>
              <a:t>ИС «Тропа»</a:t>
            </a:r>
            <a:r>
              <a:rPr sz="1500" b="0" i="0">
                <a:solidFill>
                  <a:srgbClr val="2B2B2B"/>
                </a:solidFill>
                <a:latin typeface="Arial"/>
                <a:cs typeface="Arial"/>
              </a:rPr>
              <a:t> — специализированный веб-сервис с многопрофильной оценкой доступности и построением инклюзивных маршрутов по региону.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3815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800" b="0" i="0">
                <a:solidFill>
                  <a:srgbClr val="141414"/>
                </a:solidFill>
                <a:latin typeface="Arial Black"/>
                <a:cs typeface="Arial Black"/>
              </a:rPr>
              <a:t>Системы-аналоги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10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2B2B2B"/>
                </a:solidFill>
                <a:latin typeface="Segoe Script"/>
                <a:cs typeface="Segoe Script"/>
              </a:rPr>
              <a:t>сравнение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423160"/>
          <a:ext cx="10424160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463040"/>
                <a:gridCol w="1325880"/>
                <a:gridCol w="1417320"/>
                <a:gridCol w="1371600"/>
                <a:gridCol w="182880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Критерий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Tripadvisor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Яндекс Карты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Wheelmap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Визиттула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«Тропа»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Каталог объектов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част.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Сведения о доступности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миним.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миним.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только мобильн.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развёрнутые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Учёт категорий ОВЗ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9 категорий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Построение маршрутов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без ОВЗ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с учётом ОВЗ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Автосбор данных (LLM)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Специализация на регионе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Тула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Тула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СТРУКТУРА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3417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600" b="0" i="0">
                <a:solidFill>
                  <a:srgbClr val="141414"/>
                </a:solidFill>
                <a:latin typeface="Arial Black"/>
                <a:cs typeface="Arial Black"/>
              </a:rPr>
              <a:t>Структура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10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2B2B2B"/>
                </a:solidFill>
                <a:latin typeface="Segoe Script"/>
                <a:cs typeface="Segoe Script"/>
              </a:rPr>
              <a:t>функции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5577840" cy="411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40">
                <a:solidFill>
                  <a:srgbClr val="8C8984"/>
                </a:solidFill>
                <a:latin typeface="Arial"/>
                <a:cs typeface="Arial"/>
              </a:rPr>
              <a:t>9 ФУНКЦИОНАЛЬНЫХ ПОДСИСТЕМ · 25 ФУНКЦИЙ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аутентификация и управление профилем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каталог объектов и паспорта доступности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картографическое отображение (Яндекс.Карты)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построение инклюзивных маршрутов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автоматизированный сбор сведений (LLM)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модерация, отзывы, администрирование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231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40">
                <a:solidFill>
                  <a:srgbClr val="8C8984"/>
                </a:solidFill>
                <a:latin typeface="Arial"/>
                <a:cs typeface="Arial"/>
              </a:rPr>
              <a:t>РОЛИ ПОЛЬЗОВАТЕЛЕЙ (RBAC)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user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каталог, маршруты, отзывы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expert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шаблоны маршрутов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moderator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каталог, модерация автосбора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admin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управление и конфигурация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sz="1100" b="1" i="0" spc="140">
                <a:solidFill>
                  <a:srgbClr val="8C8984"/>
                </a:solidFill>
                <a:latin typeface="Arial"/>
                <a:cs typeface="Arial"/>
              </a:rPr>
              <a:t>ИНКЛЮЗИВНЫЙ ПРОФИЛЬ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9 категорий ограничений здоровья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независимая оценка по каждой; учёт комбинаций потребностей пользователя.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ЯДРО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475720" cy="22164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>
                <a:solidFill>
                  <a:srgbClr val="141414"/>
                </a:solidFill>
                <a:latin typeface="Arial Black"/>
                <a:cs typeface="Arial Black"/>
              </a:rPr>
              <a:t>Архитектура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>
                <a:solidFill>
                  <a:srgbClr val="141414"/>
                </a:solidFill>
                <a:latin typeface="Arial Black"/>
                <a:cs typeface="Arial Black"/>
              </a:rPr>
              <a:t>и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691640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2B2B2B"/>
                </a:solidFill>
                <a:latin typeface="Segoe Script"/>
                <a:cs typeface="Segoe Script"/>
              </a:rPr>
              <a:t>ядро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АРХИТЕКТУРА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8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380" b="0" i="0">
                <a:solidFill>
                  <a:srgbClr val="2B2B2B"/>
                </a:solidFill>
                <a:latin typeface="Arial"/>
                <a:cs typeface="Arial"/>
              </a:rPr>
              <a:t>клиент-серверная, 4 уровня (представление, логика, данные, интеграции)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8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380" b="0" i="0">
                <a:solidFill>
                  <a:srgbClr val="2B2B2B"/>
                </a:solidFill>
                <a:latin typeface="Arial"/>
                <a:cs typeface="Arial"/>
              </a:rPr>
              <a:t>сервер — Python 3.12 + FastAPI (REST/JSON)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8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380" b="0" i="0">
                <a:solidFill>
                  <a:srgbClr val="2B2B2B"/>
                </a:solidFill>
                <a:latin typeface="Arial"/>
                <a:cs typeface="Arial"/>
              </a:rPr>
              <a:t>клиент — TypeScript + React + Vite (SPA)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8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380" b="0" i="0">
                <a:solidFill>
                  <a:srgbClr val="2B2B2B"/>
                </a:solidFill>
                <a:latin typeface="Arial"/>
                <a:cs typeface="Arial"/>
              </a:rPr>
              <a:t>СУБД — PostgreSQL 16 + PostGIS, кеш Redis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8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380" b="0" i="0">
                <a:solidFill>
                  <a:srgbClr val="2B2B2B"/>
                </a:solidFill>
                <a:latin typeface="Arial"/>
                <a:cs typeface="Arial"/>
              </a:rPr>
              <a:t>развёртывание в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60604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МАТЕМАТИЧЕСКАЯ МОДЕЛЬ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80" b="0" i="0">
                <a:solidFill>
                  <a:srgbClr val="2B2B2B"/>
                </a:solidFill>
                <a:latin typeface="Arial"/>
                <a:cs typeface="Arial"/>
              </a:rPr>
              <a:t>Модифицированный алгоритм Дейкстры — вес ребра: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41414"/>
                </a:solidFill>
                <a:latin typeface="Arial"/>
                <a:cs typeface="Arial"/>
              </a:rPr>
              <a:t>w(vᵢ, vⱼ, π) = α·d(vᵢ,vⱼ) + β·(1 − f)·D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2B2B2B"/>
                </a:solidFill>
                <a:latin typeface="Arial"/>
                <a:cs typeface="Arial"/>
              </a:rPr>
              <a:t>d</a:t>
            </a:r>
            <a:r>
              <a:rPr sz="1350" b="0" i="0">
                <a:solidFill>
                  <a:srgbClr val="2B2B2B"/>
                </a:solidFill>
                <a:latin typeface="Arial"/>
                <a:cs typeface="Arial"/>
              </a:rPr>
              <a:t> — расстояние (гаверсинус),  </a:t>
            </a:r>
            <a:r>
              <a:rPr sz="1350" b="1" i="0">
                <a:solidFill>
                  <a:srgbClr val="2B2B2B"/>
                </a:solidFill>
                <a:latin typeface="Arial"/>
                <a:cs typeface="Arial"/>
              </a:rPr>
              <a:t>f∈[0,1]</a:t>
            </a:r>
            <a:r>
              <a:rPr sz="1350" b="0" i="0">
                <a:solidFill>
                  <a:srgbClr val="2B2B2B"/>
                </a:solidFill>
                <a:latin typeface="Arial"/>
                <a:cs typeface="Arial"/>
              </a:rPr>
              <a:t> — оценка доступности под профиль.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80" b="0" i="0">
                <a:solidFill>
                  <a:srgbClr val="2B2B2B"/>
                </a:solidFill>
                <a:latin typeface="Arial"/>
                <a:cs typeface="Arial"/>
              </a:rPr>
              <a:t>Оценка маршрута — по «слабому звену»: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41414"/>
                </a:solidFill>
                <a:latin typeface="Arial"/>
                <a:cs typeface="Arial"/>
              </a:rPr>
              <a:t>F(S, π) = min { f(p(sᵢ), π) 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Arial"/>
                <a:cs typeface="Arial"/>
              </a:rPr>
              <a:t>Сложность O((|V|+|E|)·log|V|); маршрут до 5 точек &lt; 1,5 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3020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141414"/>
                </a:solidFill>
                <a:latin typeface="Arial Black"/>
                <a:cs typeface="Arial Black"/>
              </a:rPr>
              <a:t>Оценка доступности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10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2B2B2B"/>
                </a:solidFill>
                <a:latin typeface="Segoe Script"/>
                <a:cs typeface="Segoe Script"/>
              </a:rPr>
              <a:t>9 профилей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МОДЕЛЬ ПРАВИЛ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блокирующие правила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 — нарушение делает объект недоступным (f = 0)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желательные правила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 — снижают оценку, но не блокируют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несколько профилей</a:t>
            </a: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 — берётся минимум (консервативно)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ПАСПОРТ ДОСТУПНОСТИ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51 атрибут в 7 категориях; показатель заполненности c(p) для приоритизации работы модераторов.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2316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ШКАЛА ОЦЕНКИ  f ∈ [0, 1]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2F6B53"/>
                </a:solidFill>
                <a:latin typeface="Arial Black"/>
                <a:cs typeface="Arial Black"/>
              </a:rPr>
              <a:t>f ≥ 0.7  </a:t>
            </a:r>
            <a:r>
              <a:rPr sz="1500" b="0" i="0">
                <a:solidFill>
                  <a:srgbClr val="2B2B2B"/>
                </a:solidFill>
                <a:latin typeface="Arial"/>
                <a:cs typeface="Arial"/>
              </a:rPr>
              <a:t>— доступен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141414"/>
                </a:solidFill>
                <a:latin typeface="Arial Black"/>
                <a:cs typeface="Arial Black"/>
              </a:rPr>
              <a:t>0.3 ≤ f &lt; 0.7  </a:t>
            </a:r>
            <a:r>
              <a:rPr sz="1500" b="0" i="0">
                <a:solidFill>
                  <a:srgbClr val="2B2B2B"/>
                </a:solidFill>
                <a:latin typeface="Arial"/>
                <a:cs typeface="Arial"/>
              </a:rPr>
              <a:t>— частично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141414"/>
                </a:solidFill>
                <a:latin typeface="Arial Black"/>
                <a:cs typeface="Arial Black"/>
              </a:rPr>
              <a:t>f &lt; 0.3  </a:t>
            </a:r>
            <a:r>
              <a:rPr sz="1500" b="0" i="0">
                <a:solidFill>
                  <a:srgbClr val="2B2B2B"/>
                </a:solidFill>
                <a:latin typeface="Arial"/>
                <a:cs typeface="Arial"/>
              </a:rPr>
              <a:t>— недоступен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Arial"/>
                <a:cs typeface="Arial"/>
              </a:rPr>
              <a:t>На карте сегменты маршрута подсвечиваются: зелёный — доступно, жёлтый — частично, красный — недоступно.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3417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600" b="0" i="0">
                <a:solidFill>
                  <a:srgbClr val="141414"/>
                </a:solidFill>
                <a:latin typeface="Arial Black"/>
                <a:cs typeface="Arial Black"/>
              </a:rPr>
              <a:t>Целевая 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10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2B2B2B"/>
                </a:solidFill>
                <a:latin typeface="Segoe Script"/>
                <a:cs typeface="Segoe Script"/>
              </a:rPr>
              <a:t>сегменты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77440"/>
          <a:ext cx="1106424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5852160"/>
                <a:gridCol w="19202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Категория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Особые потребности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Доля, %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Маломобильные граждане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пандусы, лифты, отсутствие ступеней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8–10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Нарушения зрения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тактильная плитка, аудиогид, контраст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1–2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Нарушения слуха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субтитры, индукционные петли, жесты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2–3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Когнитивные особенности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предсказуемость, ясный язык, тишина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1–2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Пожилые граждане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места отдыха, низкая нагрузка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15–18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Семьи с детьми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доступность для колясок, комнаты МиР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2F6B53"/>
                          </a:solidFill>
                          <a:latin typeface="Arial"/>
                          <a:cs typeface="Arial"/>
                        </a:rPr>
                        <a:t>10–12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4212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141414"/>
                </a:solidFill>
                <a:latin typeface="Arial Black"/>
                <a:cs typeface="Arial Black"/>
              </a:rPr>
              <a:t>Бизнес-модель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10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2B2B2B"/>
                </a:solidFill>
                <a:latin typeface="Segoe Script"/>
                <a:cs typeface="Segoe Script"/>
              </a:rPr>
              <a:t>канвас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77440"/>
          <a:ext cx="1106424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777240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Компонент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Содержание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Ценностное предложение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Самостоятельное планирование инклюзивных поездок; достоверные паспорта доступности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Сегменты клиентов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Минтуризма региона; турфирмы инклюзивных туров; ассоциации людей с ОВЗ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Каналы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Госконтракты, профильные мероприятия, партнёрство с НКО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Потоки дохода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Контракт на разработку и сопровождение; тиражирование на регионы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Ключевые ресурсы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Команда, база паспортов доступности, технологии (LLM, ГИС)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Ключевые партнёры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Яндекс (Карты, GPT), организации инвалидов, музеи региона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ФИНАНСЫ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3417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600" b="0" i="0">
                <a:solidFill>
                  <a:srgbClr val="141414"/>
                </a:solidFill>
                <a:latin typeface="Arial Black"/>
                <a:cs typeface="Arial Black"/>
              </a:rPr>
              <a:t>Финансовая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10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2B2B2B"/>
                </a:solidFill>
                <a:latin typeface="Segoe Script"/>
                <a:cs typeface="Segoe Script"/>
              </a:rPr>
              <a:t>3 года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77440"/>
          <a:ext cx="110642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2286000"/>
                <a:gridCol w="2286000"/>
                <a:gridCol w="22860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Показатель, тыс. руб.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1-й год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2-й год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3-й год</a:t>
                      </a:r>
                    </a:p>
                  </a:txBody>
                  <a:tcPr anchor="ctr" marL="109728" marR="109728" marT="45720" marB="45720">
                    <a:solidFill>
                      <a:srgbClr val="14141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Выручка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3 600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9 000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16 200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Расходы (с налогом)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3 513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5 460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8 940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Чистая прибыль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87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3 540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7 260</a:t>
                      </a:r>
                    </a:p>
                  </a:txBody>
                  <a:tcPr anchor="ctr" marL="109728" marR="109728" marT="45720" marB="45720">
                    <a:solidFill>
                      <a:srgbClr val="ECEBE8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141414"/>
                          </a:solidFill>
                          <a:latin typeface="Arial"/>
                          <a:cs typeface="Arial"/>
                        </a:rPr>
                        <a:t>Новых регионов за год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+2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 i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+3</a:t>
                      </a:r>
                    </a:p>
                  </a:txBody>
                  <a:tcPr anchor="ctr" marL="109728" marR="109728" marT="45720" marB="45720">
                    <a:solidFill>
                      <a:srgbClr val="F6F5F2"/>
                    </a:solidFill>
                    <a:lnB w="9525" cap="flat">
                      <a:solidFill>
                        <a:srgbClr val="CBC9C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B2B2B"/>
                </a:solidFill>
                <a:latin typeface="Arial"/>
                <a:cs typeface="Arial"/>
              </a:rPr>
              <a:t>Старт — пилот для Минтуризма Тульской области, далее тиражирование на субъекты РФ.  </a:t>
            </a:r>
            <a:r>
              <a:rPr sz="1450" b="1" i="0">
                <a:solidFill>
                  <a:srgbClr val="141414"/>
                </a:solidFill>
                <a:latin typeface="Arial"/>
                <a:cs typeface="Arial"/>
              </a:rPr>
              <a:t>Суммарная чистая прибыль за 3 года — 10 887 тыс. руб.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ИНТЕГРАЦИЯ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475720" cy="22164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>
                <a:solidFill>
                  <a:srgbClr val="141414"/>
                </a:solidFill>
                <a:latin typeface="Arial Black"/>
                <a:cs typeface="Arial Black"/>
              </a:rPr>
              <a:t>Интеграция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0" i="0">
                <a:solidFill>
                  <a:srgbClr val="141414"/>
                </a:solidFill>
                <a:latin typeface="Arial Black"/>
                <a:cs typeface="Arial Black"/>
              </a:rPr>
              <a:t>и автосбор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691640"/>
            <a:ext cx="8229600" cy="1310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2B2B2B"/>
                </a:solidFill>
                <a:latin typeface="Segoe Script"/>
                <a:cs typeface="Segoe Script"/>
              </a:rPr>
              <a:t>ИИ в контуре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557784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ВНЕШНИЕ СЕРВИСЫ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YandexGPT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извлечение сведений о доступности из текста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Яндекс.Карты JS API 3.0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карта и геометрия маршрута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OpenRouteService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построение пешеходных сегментов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Redis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кеширование справочников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0604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40">
                <a:solidFill>
                  <a:srgbClr val="8C8984"/>
                </a:solidFill>
                <a:latin typeface="Arial"/>
                <a:cs typeface="Arial"/>
              </a:rPr>
              <a:t>АВТОСБОР: ЧЕЛОВЕК В КОНТУРЕ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141414"/>
                </a:solidFill>
                <a:latin typeface="Arial"/>
                <a:cs typeface="Arial"/>
              </a:rPr>
              <a:t>парсинг страницы → LLM (JSON) → очередь модерации → подтверждение модератором → паспорт объекта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Качество извлечения  </a:t>
            </a:r>
            <a:r>
              <a:rPr sz="2600" b="0" i="0">
                <a:solidFill>
                  <a:srgbClr val="2F6B53"/>
                </a:solidFill>
                <a:latin typeface="Arial Black"/>
                <a:cs typeface="Arial Black"/>
              </a:rPr>
              <a:t>F1 = 0,81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микро-усреднение на контрольной выборке; данные не применяются без модерации.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4212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141414"/>
                </a:solidFill>
                <a:latin typeface="Arial Black"/>
                <a:cs typeface="Arial Black"/>
              </a:rPr>
              <a:t>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10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2B2B2B"/>
                </a:solidFill>
                <a:latin typeface="Segoe Script"/>
                <a:cs typeface="Segoe Script"/>
              </a:rPr>
              <a:t>152-ФЗ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40">
                <a:solidFill>
                  <a:srgbClr val="8C8984"/>
                </a:solidFill>
                <a:latin typeface="Arial"/>
                <a:cs typeface="Arial"/>
              </a:rPr>
              <a:t>ЗАЩИТА ПЕРСОНАЛЬНЫХ ДАННЫХ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правовые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согласие на обработку ПДн, политика конфиденциальности, соответствие 152-ФЗ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технические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bcrypt, JWT, HTTPS/TLS 1.2+, RBAC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организационные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разделение полномочий ролей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2316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МОДЕЛЬ УГРОЗ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0" i="0">
                <a:solidFill>
                  <a:srgbClr val="2F6B53"/>
                </a:solidFill>
                <a:latin typeface="Arial Black"/>
                <a:cs typeface="Arial Black"/>
              </a:rPr>
              <a:t>10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 актуальных угроз (по банку ФСТЭК)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0" i="0">
                <a:solidFill>
                  <a:srgbClr val="141414"/>
                </a:solidFill>
                <a:latin typeface="Arial Black"/>
                <a:cs typeface="Arial Black"/>
              </a:rPr>
              <a:t>4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 категории нарушителя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0" i="0">
                <a:solidFill>
                  <a:srgbClr val="141414"/>
                </a:solidFill>
                <a:latin typeface="Arial Black"/>
                <a:cs typeface="Arial Black"/>
              </a:rPr>
              <a:t>7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 направлений мер защиты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Arial"/>
                <a:cs typeface="Arial"/>
              </a:rPr>
              <a:t>Комплекс мер перекрывает все выявленные актуальные угрозы.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461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>
                <a:solidFill>
                  <a:srgbClr val="141414"/>
                </a:solidFill>
                <a:latin typeface="Arial Black"/>
                <a:cs typeface="Arial Black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80160"/>
            <a:ext cx="8229600" cy="1249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1">
                <a:solidFill>
                  <a:srgbClr val="2B2B2B"/>
                </a:solidFill>
                <a:latin typeface="Segoe Script"/>
                <a:cs typeface="Segoe Script"/>
              </a:rPr>
              <a:t>контрольный пример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30">
                <a:solidFill>
                  <a:srgbClr val="8C8984"/>
                </a:solidFill>
                <a:latin typeface="Arial"/>
                <a:cs typeface="Arial"/>
              </a:rPr>
              <a:t>КОНТРОЛЬНЫЙ ПРИМЕР · РУЧНАЯ КОЛЯСКА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время входа — 350 мс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 (требование ≤ 1000 мс)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построение маршрута — 1,2 с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 (≤ 3 с)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оценка 0,72 — accessible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 ·  длина 2,1 км, 85 мин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1 предупреждение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 (брусчатка у входа в музей)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6888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40">
                <a:solidFill>
                  <a:srgbClr val="8C8984"/>
                </a:solidFill>
                <a:latin typeface="Arial"/>
                <a:cs typeface="Arial"/>
              </a:rPr>
              <a:t>ГОТОВНОСТЬ И ТЕСТИРОВАНИЕ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20 объектов с верифицированными паспортами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18 маршрутов-шаблонов по 6 категориям ОВЗ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тестирование: модульное, интеграционное, приёмочное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руководства пользователя и модератора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5008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141414"/>
                </a:solidFill>
                <a:latin typeface="Arial Black"/>
                <a:cs typeface="Arial Black"/>
              </a:rPr>
              <a:t>Экономика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80160"/>
            <a:ext cx="8229600" cy="1310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2B2B2B"/>
                </a:solidFill>
                <a:latin typeface="Segoe Script"/>
                <a:cs typeface="Segoe Script"/>
              </a:rPr>
              <a:t>инвестиции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2F6B53"/>
                </a:solidFill>
                <a:latin typeface="Arial Black"/>
                <a:cs typeface="Arial Black"/>
              </a:rPr>
              <a:t>500 тыс.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стартовый капитал, руб.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60604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2F6B53"/>
                </a:solidFill>
                <a:latin typeface="Arial Black"/>
                <a:cs typeface="Arial Black"/>
              </a:rPr>
              <a:t>350 тыс.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ежемесячные расходы, руб.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60604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2F6B53"/>
                </a:solidFill>
                <a:latin typeface="Arial Black"/>
                <a:cs typeface="Arial Black"/>
              </a:rPr>
              <a:t>80 %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расходов — фонд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оплаты труда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МОДЕЛЬ ДОХОДА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контракт 3 600 тыс. руб./год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в первый год (разработка + сопровождение), далее 1 800 тыс. руб./год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команда из 4 человек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; форма — ИП на УСН «Доходы» (6 %)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тиражирование на регионы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 — основной драйвер роста выручки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ОКУПАЕМОСТЬ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42129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 i="0">
                <a:solidFill>
                  <a:srgbClr val="141414"/>
                </a:solidFill>
                <a:latin typeface="Arial Black"/>
                <a:cs typeface="Arial Black"/>
              </a:rPr>
              <a:t>Окупаемость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2B2B2B"/>
                </a:solidFill>
                <a:latin typeface="Segoe Script"/>
                <a:cs typeface="Segoe Script"/>
              </a:rPr>
              <a:t>ROI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2F6B53"/>
                </a:solidFill>
                <a:latin typeface="Arial Black"/>
                <a:cs typeface="Arial Black"/>
              </a:rPr>
              <a:t>15 мес.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срок окупаемости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стартовых инвестиций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60604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2F6B53"/>
                </a:solidFill>
                <a:latin typeface="Arial Black"/>
                <a:cs typeface="Arial Black"/>
              </a:rPr>
              <a:t>2077 %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ROI за 3 года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(≈178 % годовых)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60604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2F6B53"/>
                </a:solidFill>
                <a:latin typeface="Arial Black"/>
                <a:cs typeface="Arial Black"/>
              </a:rPr>
              <a:t>7,25 млн</a:t>
            </a:r>
          </a:p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NPV за 3 года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2B2B"/>
                </a:solidFill>
                <a:latin typeface="Arial"/>
                <a:cs typeface="Arial"/>
              </a:rPr>
              <a:t>при ставке r = 15 %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60">
                <a:solidFill>
                  <a:srgbClr val="8C8984"/>
                </a:solidFill>
                <a:latin typeface="Arial"/>
                <a:cs typeface="Arial"/>
              </a:rPr>
              <a:t>ЧИСТАЯ ПРИБЫЛЬ ПО ГОДАМ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B2B2B"/>
                </a:solidFill>
                <a:latin typeface="Arial"/>
                <a:cs typeface="Arial"/>
              </a:rPr>
              <a:t>1-й год — </a:t>
            </a:r>
            <a:r>
              <a:rPr sz="1600" b="1" i="0">
                <a:solidFill>
                  <a:srgbClr val="141414"/>
                </a:solidFill>
                <a:latin typeface="Arial"/>
                <a:cs typeface="Arial"/>
              </a:rPr>
              <a:t>87 тыс.</a:t>
            </a:r>
            <a:r>
              <a:rPr sz="1600" b="0" i="0">
                <a:solidFill>
                  <a:srgbClr val="2B2B2B"/>
                </a:solidFill>
                <a:latin typeface="Arial"/>
                <a:cs typeface="Arial"/>
              </a:rPr>
              <a:t>     2-й год — </a:t>
            </a:r>
            <a:r>
              <a:rPr sz="1600" b="1" i="0">
                <a:solidFill>
                  <a:srgbClr val="141414"/>
                </a:solidFill>
                <a:latin typeface="Arial"/>
                <a:cs typeface="Arial"/>
              </a:rPr>
              <a:t>3 540 тыс.</a:t>
            </a:r>
            <a:r>
              <a:rPr sz="1600" b="0" i="0">
                <a:solidFill>
                  <a:srgbClr val="2B2B2B"/>
                </a:solidFill>
                <a:latin typeface="Arial"/>
                <a:cs typeface="Arial"/>
              </a:rPr>
              <a:t>     3-й год — </a:t>
            </a:r>
            <a:r>
              <a:rPr sz="1600" b="1" i="0">
                <a:solidFill>
                  <a:srgbClr val="141414"/>
                </a:solidFill>
                <a:latin typeface="Arial"/>
                <a:cs typeface="Arial"/>
              </a:rPr>
              <a:t>7 260 тыс. руб.</a:t>
            </a:r>
          </a:p>
          <a:p>
            <a:pPr algn="l"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2B2B2B"/>
                </a:solidFill>
                <a:latin typeface="Arial"/>
                <a:cs typeface="Arial"/>
              </a:rPr>
              <a:t>Положительный NPV подтверждает экономическую целесообразность проекта.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475720" cy="1461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>
                <a:solidFill>
                  <a:srgbClr val="141414"/>
                </a:solidFill>
                <a:latin typeface="Arial Black"/>
                <a:cs typeface="Arial Black"/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07008"/>
            <a:ext cx="8229600" cy="1371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2B2B2B"/>
                </a:solidFill>
                <a:latin typeface="Segoe Script"/>
                <a:cs typeface="Segoe Script"/>
              </a:rPr>
              <a:t>итоги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11185855" cy="10972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30">
                <a:solidFill>
                  <a:srgbClr val="8C8984"/>
                </a:solidFill>
                <a:latin typeface="Arial"/>
                <a:cs typeface="Arial"/>
              </a:rPr>
              <a:t>ЦЕЛЬ ДОСТИГНУТА, ЗАДАЧИ ВЫПОЛНЕНЫ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разработан работающий веб-сервис «Тропа»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20 объектов, 18 маршрутов-шаблонов, ~14 000 строк кода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система готова к опытной эксплуатации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sz="1100" b="1" i="0" spc="140">
                <a:solidFill>
                  <a:srgbClr val="8C8984"/>
                </a:solidFill>
                <a:latin typeface="Arial"/>
                <a:cs typeface="Arial"/>
              </a:rPr>
              <a:t>ПРАКТИЧЕСКАЯ ЗНАЧИМОСТЬ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Самостоятельное планирование поездок гражданами с ОВЗ; тиражируемость на другие субъекты РФ.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46888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 spc="140">
                <a:solidFill>
                  <a:srgbClr val="8C8984"/>
                </a:solidFill>
                <a:latin typeface="Arial"/>
                <a:cs typeface="Arial"/>
              </a:rPr>
              <a:t>НАУЧНАЯ НОВИЗНА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многопрофильная модель доступности (9 категорий ОВЗ, учёт комбинаций через минимум)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модификация алгоритма Дейкстры со штрафом за недоступность объекта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41414"/>
                </a:solidFill>
                <a:latin typeface="Arial"/>
                <a:cs typeface="Arial"/>
              </a:rPr>
              <a:t>•  </a:t>
            </a:r>
            <a:r>
              <a:rPr sz="1400" b="0" i="0">
                <a:solidFill>
                  <a:srgbClr val="2B2B2B"/>
                </a:solidFill>
                <a:latin typeface="Arial"/>
                <a:cs typeface="Arial"/>
              </a:rPr>
              <a:t>методика автосбора сведений LLM с обязательной модерацией (human-in-the-loop)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00800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8C8984"/>
                </a:solidFill>
                <a:latin typeface="Arial"/>
                <a:cs typeface="Arial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B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ИС «ТРОПА» · ЗАЩИТА ВКР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2375" y="29260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220">
                <a:solidFill>
                  <a:srgbClr val="8C8984"/>
                </a:solidFill>
                <a:latin typeface="Arial"/>
                <a:cs typeface="Arial"/>
              </a:rPr>
              <a:t>ТУЛГУ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5855" cy="12801"/>
          </a:xfrm>
          <a:prstGeom prst="rect">
            <a:avLst/>
          </a:prstGeom>
          <a:solidFill>
            <a:srgbClr val="CBC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475720" cy="261399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0" i="0">
                <a:solidFill>
                  <a:srgbClr val="141414"/>
                </a:solidFill>
                <a:latin typeface="Arial Black"/>
                <a:cs typeface="Arial Black"/>
              </a:rPr>
              <a:t>Спасибо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39" y="3977639"/>
            <a:ext cx="8229600" cy="20421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i="1">
                <a:solidFill>
                  <a:srgbClr val="141414"/>
                </a:solidFill>
                <a:latin typeface="Segoe Script"/>
                <a:cs typeface="Segoe Script"/>
              </a:rPr>
              <a:t>за внимание!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C8984"/>
                </a:solidFill>
                <a:latin typeface="Arial"/>
                <a:cs typeface="Arial"/>
              </a:rPr>
              <a:t>Шулепова Д. А., гр. 221321  ·  Руководитель — Сафронова М. А.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2B2B2B"/>
                </a:solidFill>
                <a:latin typeface="Arial"/>
                <a:cs typeface="Arial"/>
              </a:rPr>
              <a:t>Веб-сервис построения инклюзивных туристических маршрутов по Тульской области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